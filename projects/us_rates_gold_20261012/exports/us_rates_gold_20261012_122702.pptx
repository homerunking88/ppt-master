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16x9"/>
  <p:notesSz cx="6858000" cy="9144000"/>
  <p:defaultTextStyle>
    <a:defPPr>
      <a:defRPr lang="ko-KR"/>
    </a:defPPr>
    <a:lvl1pPr marL="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ko-KR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ko-K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ko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ko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ko-KR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ko-KR" dirty="0"/>
              <a:t>결론부터 말씀드리면, 금 가격은 오랫동안 실질금리와 반대 방향으로 움직여 왔지만 2022년 이후에는 이 연결이 눈에 띄게 약해졌습니다. 그 사이 중앙은행들이 2022년부터 2024년까지 해마다 1,000톤이 넘는 금을 사들였고, 그 결과 금리가 오르는 동안에도 금 가격이 함께 올랐습니다.</a:t>
            </a:r>
          </a:p>
          <a:p>
            <a:pPr/>
            <a:endParaRPr lang="ko-KR" dirty="0"/>
          </a:p>
          <a:p>
            <a:pPr/>
            <a:r>
              <a:rPr lang="ko-KR" dirty="0"/>
              <a:t>왼쪽 차트는 2007년부터 2025년까지 금 연평균 가격과 미국 10년물 국채 명목금리 연평균을 함께 보여 줍니다. 2021년까지는 금리가 내려가는 구간에서 금이 오르는 모습이 반복되었고, 금리가 0.89%까지 내려간 2020년에 금 가격이 크게 뛰었습니다. 반면 음영으로 표시한 2022년 이후에는 금리와 금 가격이 함께 올라 2025년 금 연평균은 3,432달러에 이르렀습니다. 차트의 금리선은 명목금리이며, 실질금리 연평균은 출처에서 확인하지 못해 아래에 확인된 시점 값만 적었습니다. 10년물 TIPS 실질수익률은 2020년 7월 마이너스 0.93%로 사상 최저였고, 2023년 8월 2%를 넘은 뒤 2026년 10월 8일에는 2.87%였습니다.</a:t>
            </a:r>
          </a:p>
          <a:p>
            <a:pPr/>
            <a:endParaRPr lang="ko-KR" dirty="0"/>
          </a:p>
          <a:p>
            <a:pPr/>
            <a:r>
              <a:rPr lang="ko-KR" dirty="0"/>
              <a:t>이 역관계의 근거는 기회비용입니다. 금은 이자를 주지 않기 때문에 실질금리가 오르면 금을 들고 있는 비용이 커집니다. Erb와 Harvey의 연구에서는 1997년 1월부터 2012년 3월까지 금 실질가격과 10년물 TIPS 수익률의 상관계수가 마이너스 0.82였고, 세계금협회는 10년물 금리가 25bp 내리면 금 가격이 약 1.75% 오르는 관계를 제시했습니다.</a:t>
            </a:r>
          </a:p>
          <a:p>
            <a:pPr/>
            <a:endParaRPr lang="ko-KR" dirty="0"/>
          </a:p>
          <a:p>
            <a:pPr/>
            <a:r>
              <a:rPr lang="ko-KR" dirty="0"/>
              <a:t>2022년에는 TIPS 수익률이 약 250bp 올랐는데도 금이 소폭 올랐습니다. 중앙은행 순매입이 2022년 1,082톤, 2023년 1,037톤, 2024년 1,092톤으로 2010년부터 2021년까지의 연평균 473톤의 두 배를 넘었고, 2025년에도 863톤을 기록해 금리 영향을 상당 부분 상쇄했습니다.</a:t>
            </a:r>
          </a:p>
          <a:p>
            <a:pPr/>
            <a:endParaRPr lang="ko-KR" dirty="0"/>
          </a:p>
          <a:p>
            <a:pPr/>
            <a:r>
              <a:rPr lang="ko-KR" dirty="0"/>
              <a:t>전망을 보면 연준은 2024년 9월부터 2025년 12월까지 금리를 1.75%포인트 내린 뒤 2026년 7월 동결을 거쳐 9월 16일 0.25%포인트 인상했고, 기준금리는 현재 3.75에서 4.00% 범위입니다. 9월 점도표는 2026년 말과 2027년 말 모두 4.1%, 장기 3.2%로 6월보다 높아졌고, 10월 9일 기준 시장은 12월 인상 확률을 82%로 보고 있습니다. 금 가격은 1월 고점보다 약 26% 낮은 4,143달러 수준이며, 기관 전망은 뱅크오브아메리카의 4분기 3,750달러부터 UBS의 2027년 상반기 5,000달러까지 넓게 퍼져 있습니다. 골드만삭스는 2026년 말 4,900달러를 유지하면서도 연준이 금리를 올리면 4,440달러로 낮아질 수 있다고 보았고, 세계금협회는 하반기 기본 시나리오를 4,100달러 안팎으로 제시했습니다. 기관 전망은 대부분 언론 보도를 통해 확인한 수치라는 점을 감안해 주시기 바랍니다. 정리하면 금리 경로는 여전히 금 가격의 핵심 변수이지만, 방향을 판단할 때는 중앙은행 매입 흐름을 함께 확인해야 합니다.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us_rates_go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ko-KR" smtClean="0"/>
              <a:t>1/27/13</a:t>
            </a:fld>
            <a:endParaRPr lang="ko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ko-KR" smtClean="0"/>
              <a:t>‹#›</a:t>
            </a:fld>
            <a:endParaRPr lang="ko-K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us_rates_go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ko-K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ko-KR" smtClean="0"/>
              <a:t>1/27/13</a:t>
            </a:fld>
            <a:endParaRPr 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ko-K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ko-K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ko-KR" smtClean="0"/>
              <a:t>‹#›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 lang="ko-KR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ko-KR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ko-KR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ko-KR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ko-KR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ko-KR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ko-KR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ko-KR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ko-KR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ko-KR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57200" rtl="0" eaLnBrk="1" latinLnBrk="0" hangingPunct="1">
        <a:defRPr sz="1350" kern="1200" lang="ko-KR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 lang="ko-KR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 lang="ko-KR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 lang="ko-KR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 lang="ko-KR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 lang="ko-KR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 lang="ko-KR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ko-KR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ko-KR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369570" y="349250"/>
            <a:ext cx="11441430" cy="1012825"/>
            <a:chOff x="369570" y="349250"/>
            <a:chExt cx="11441430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376047" y="349250"/>
              <a:ext cx="25485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미국 금리와 금 가격 · 기준일 2026.10.12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9570" y="577850"/>
              <a:ext cx="97594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금 가격은 실질금리와 반대로 움직여 왔으나 2022년 이후 연결이 약해짐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73380" y="990600"/>
              <a:ext cx="843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2022~2024년 중앙은행이 해마다 </a:t>
              </a:r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1,000t</a:t>
              </a:r>
              <a:r>
                <a:rPr lang="ko-KR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넘게 금을 사들이며 금리 상승기에도 금 가격이 오름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66" name="rates-gold-dual"/>
          <p:cNvGrpSpPr/>
          <p:nvPr/>
        </p:nvGrpSpPr>
        <p:grpSpPr>
          <a:xfrm>
            <a:off x="508546" y="1558925"/>
            <a:ext cx="6573721" cy="3153918"/>
            <a:chOff x="508546" y="1558925"/>
            <a:chExt cx="6573721" cy="3153918"/>
          </a:xfrm>
        </p:grpSpPr>
        <p:grpSp>
          <p:nvGrpSpPr>
            <p:cNvPr id="11" name="rates-gold-dual-legend"/>
            <p:cNvGrpSpPr/>
            <p:nvPr/>
          </p:nvGrpSpPr>
          <p:grpSpPr>
            <a:xfrm>
              <a:off x="952500" y="1558925"/>
              <a:ext cx="6129767" cy="191643"/>
              <a:chOff x="952500" y="1558925"/>
              <a:chExt cx="6129767" cy="191643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952500" y="16383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33297" y="1558925"/>
                <a:ext cx="221309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금 연평균 가격 (달러/온스, 왼쪽 축)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3810000" y="16383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090797" y="1558925"/>
                <a:ext cx="29914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미국 10년물 국채 명목금리 연평균 (%, 오른쪽 축)</a:t>
                </a:r>
              </a:p>
            </p:txBody>
          </p:sp>
        </p:grpSp>
        <p:grpSp>
          <p:nvGrpSpPr>
            <p:cNvPr id="23" name="rates-gold-dual-chartArea"/>
            <p:cNvGrpSpPr/>
            <p:nvPr/>
          </p:nvGrpSpPr>
          <p:grpSpPr>
            <a:xfrm>
              <a:off x="952500" y="1905000"/>
              <a:ext cx="5715000" cy="2581275"/>
              <a:chOff x="952500" y="1905000"/>
              <a:chExt cx="5715000" cy="258127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462588" y="1905000"/>
                <a:ext cx="1204912" cy="2571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9" name="rates-gold-dual-grid"/>
              <p:cNvGrpSpPr/>
              <p:nvPr/>
            </p:nvGrpSpPr>
            <p:grpSpPr>
              <a:xfrm>
                <a:off x="952500" y="1905000"/>
                <a:ext cx="5715000" cy="2152650"/>
                <a:chOff x="952500" y="1905000"/>
                <a:chExt cx="5715000" cy="2152650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952500" y="190500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952500" y="2333625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952500" y="276225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952500" y="3190875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952500" y="3619500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952500" y="4048125"/>
                  <a:ext cx="5715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0" h="9525">
                      <a:moveTo>
                        <a:pt x="0" y="0"/>
                      </a:moveTo>
                      <a:lnTo>
                        <a:pt x="571500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</p:grpSp>
          <p:sp>
            <p:nvSpPr>
              <p:cNvPr id="20" name="Line 20"/>
              <p:cNvSpPr/>
              <p:nvPr/>
            </p:nvSpPr>
            <p:spPr>
              <a:xfrm>
                <a:off x="952500" y="447675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6B6B6B"/>
                </a:solidFill>
              </a:ln>
            </p:spPr>
          </p:sp>
          <p:sp>
            <p:nvSpPr>
              <p:cNvPr id="21" name="Polyline 21"/>
              <p:cNvSpPr/>
              <p:nvPr/>
            </p:nvSpPr>
            <p:spPr>
              <a:xfrm>
                <a:off x="1104900" y="2025015"/>
                <a:ext cx="5410200" cy="1954530"/>
              </a:xfrm>
              <a:custGeom>
                <a:avLst/>
                <a:gdLst/>
                <a:ahLst/>
                <a:cxnLst/>
                <a:rect l="l" t="t" r="r" b="b"/>
                <a:pathLst>
                  <a:path w="5410200" h="1954530">
                    <a:moveTo>
                      <a:pt x="0" y="1954530"/>
                    </a:moveTo>
                    <a:lnTo>
                      <a:pt x="300990" y="1828800"/>
                    </a:lnTo>
                    <a:lnTo>
                      <a:pt x="601028" y="1757363"/>
                    </a:lnTo>
                    <a:lnTo>
                      <a:pt x="902017" y="1577340"/>
                    </a:lnTo>
                    <a:lnTo>
                      <a:pt x="1202055" y="1328738"/>
                    </a:lnTo>
                    <a:lnTo>
                      <a:pt x="1503045" y="1259205"/>
                    </a:lnTo>
                    <a:lnTo>
                      <a:pt x="1803082" y="1443990"/>
                    </a:lnTo>
                    <a:lnTo>
                      <a:pt x="2104072" y="1546860"/>
                    </a:lnTo>
                    <a:lnTo>
                      <a:pt x="2404110" y="1623060"/>
                    </a:lnTo>
                    <a:lnTo>
                      <a:pt x="2705100" y="1558290"/>
                    </a:lnTo>
                    <a:lnTo>
                      <a:pt x="3006090" y="1553528"/>
                    </a:lnTo>
                    <a:lnTo>
                      <a:pt x="3306128" y="1545907"/>
                    </a:lnTo>
                    <a:lnTo>
                      <a:pt x="3607118" y="1457325"/>
                    </a:lnTo>
                    <a:lnTo>
                      <a:pt x="3907155" y="1187768"/>
                    </a:lnTo>
                    <a:lnTo>
                      <a:pt x="4208145" y="1166813"/>
                    </a:lnTo>
                    <a:lnTo>
                      <a:pt x="4508182" y="1165860"/>
                    </a:lnTo>
                    <a:lnTo>
                      <a:pt x="4809172" y="1064895"/>
                    </a:lnTo>
                    <a:lnTo>
                      <a:pt x="5109210" y="746760"/>
                    </a:lnTo>
                    <a:lnTo>
                      <a:pt x="54102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Polyline 22"/>
              <p:cNvSpPr/>
              <p:nvPr/>
            </p:nvSpPr>
            <p:spPr>
              <a:xfrm>
                <a:off x="1104900" y="2491740"/>
                <a:ext cx="5410200" cy="1603057"/>
              </a:xfrm>
              <a:custGeom>
                <a:avLst/>
                <a:gdLst/>
                <a:ahLst/>
                <a:cxnLst/>
                <a:rect l="l" t="t" r="r" b="b"/>
                <a:pathLst>
                  <a:path w="5410200" h="1603057">
                    <a:moveTo>
                      <a:pt x="0" y="0"/>
                    </a:moveTo>
                    <a:lnTo>
                      <a:pt x="300990" y="412432"/>
                    </a:lnTo>
                    <a:lnTo>
                      <a:pt x="601028" y="587692"/>
                    </a:lnTo>
                    <a:lnTo>
                      <a:pt x="902017" y="609600"/>
                    </a:lnTo>
                    <a:lnTo>
                      <a:pt x="1202055" y="788670"/>
                    </a:lnTo>
                    <a:lnTo>
                      <a:pt x="1503045" y="1213485"/>
                    </a:lnTo>
                    <a:lnTo>
                      <a:pt x="1803082" y="977265"/>
                    </a:lnTo>
                    <a:lnTo>
                      <a:pt x="2104072" y="896302"/>
                    </a:lnTo>
                    <a:lnTo>
                      <a:pt x="2404110" y="1071562"/>
                    </a:lnTo>
                    <a:lnTo>
                      <a:pt x="2705100" y="1196340"/>
                    </a:lnTo>
                    <a:lnTo>
                      <a:pt x="3006090" y="985838"/>
                    </a:lnTo>
                    <a:lnTo>
                      <a:pt x="3306128" y="737235"/>
                    </a:lnTo>
                    <a:lnTo>
                      <a:pt x="3607118" y="1067752"/>
                    </a:lnTo>
                    <a:lnTo>
                      <a:pt x="3907155" y="1603057"/>
                    </a:lnTo>
                    <a:lnTo>
                      <a:pt x="4208145" y="1367790"/>
                    </a:lnTo>
                    <a:lnTo>
                      <a:pt x="4508182" y="720090"/>
                    </a:lnTo>
                    <a:lnTo>
                      <a:pt x="4809172" y="287655"/>
                    </a:lnTo>
                    <a:lnTo>
                      <a:pt x="5109210" y="180975"/>
                    </a:lnTo>
                    <a:lnTo>
                      <a:pt x="5410200" y="159067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</p:grpSp>
        <p:grpSp>
          <p:nvGrpSpPr>
            <p:cNvPr id="65" name="rates-gold-dual-labels"/>
            <p:cNvGrpSpPr/>
            <p:nvPr/>
          </p:nvGrpSpPr>
          <p:grpSpPr>
            <a:xfrm>
              <a:off x="508546" y="1816100"/>
              <a:ext cx="6544907" cy="2896743"/>
              <a:chOff x="508546" y="1816100"/>
              <a:chExt cx="6544907" cy="2896743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508546" y="1816100"/>
                <a:ext cx="372707" cy="2763393"/>
                <a:chOff x="508546" y="1816100"/>
                <a:chExt cx="372707" cy="2763393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798787" y="4387850"/>
                  <a:ext cx="8246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53666" y="3959225"/>
                  <a:ext cx="22758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600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508546" y="3530600"/>
                  <a:ext cx="37270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1,200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08546" y="3101975"/>
                  <a:ext cx="37270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1,800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08546" y="2673350"/>
                  <a:ext cx="37270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2,400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08546" y="2244725"/>
                  <a:ext cx="37270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3,000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08546" y="1816100"/>
                  <a:ext cx="37270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3,600</a:t>
                  </a:r>
                </a:p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738747" y="4387850"/>
                <a:ext cx="18141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0%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38747" y="3959225"/>
                <a:ext cx="18141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1%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38747" y="3530600"/>
                <a:ext cx="18141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738747" y="3101975"/>
                <a:ext cx="18141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38747" y="2673350"/>
                <a:ext cx="18141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38747" y="2244725"/>
                <a:ext cx="18141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38747" y="1816100"/>
                <a:ext cx="18141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6%</a:t>
                </a:r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1027387" y="4521200"/>
                <a:ext cx="5565226" cy="191643"/>
                <a:chOff x="1027387" y="4521200"/>
                <a:chExt cx="5565226" cy="191643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1027387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07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328377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08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628414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09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929404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2229442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11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2530432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12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2830469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13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3131459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14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3431497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15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3732487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4033477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17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4333514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18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4634504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19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4934542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20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5235532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21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5535569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22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5836559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23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6136597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24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6437587" y="4521200"/>
                  <a:ext cx="15502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25</a:t>
                  </a:r>
                </a:p>
              </p:txBody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6634571" y="4521200"/>
                <a:ext cx="41888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(연도)</a:t>
                </a:r>
              </a:p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5734046" y="4121150"/>
                <a:ext cx="662948" cy="344043"/>
                <a:chOff x="5734046" y="4121150"/>
                <a:chExt cx="662948" cy="344043"/>
              </a:xfrm>
            </p:grpSpPr>
            <p:sp>
              <p:nvSpPr>
                <p:cNvPr id="60" name="TextBox 60"/>
                <p:cNvSpPr txBox="1"/>
                <p:nvPr/>
              </p:nvSpPr>
              <p:spPr>
                <a:xfrm>
                  <a:off x="5796712" y="4121150"/>
                  <a:ext cx="537616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탈동조화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5734046" y="4273550"/>
                  <a:ext cx="662948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2022~2025</a:t>
                  </a:r>
                </a:p>
              </p:txBody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5712951" y="1835150"/>
                <a:ext cx="65470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ko-KR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3,432달러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802779" y="4140200"/>
                <a:ext cx="41855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0.89%</a:t>
                </a:r>
              </a:p>
            </p:txBody>
          </p:sp>
        </p:grpSp>
      </p:grpSp>
      <p:grpSp>
        <p:nvGrpSpPr>
          <p:cNvPr id="68" name="real-rate-note"/>
          <p:cNvGrpSpPr/>
          <p:nvPr/>
        </p:nvGrpSpPr>
        <p:grpSpPr>
          <a:xfrm>
            <a:off x="947547" y="4787900"/>
            <a:ext cx="5985959" cy="191643"/>
            <a:chOff x="947547" y="4787900"/>
            <a:chExt cx="5985959" cy="191643"/>
          </a:xfrm>
        </p:grpSpPr>
        <p:sp>
          <p:nvSpPr>
            <p:cNvPr id="67" name="TextBox 67"/>
            <p:cNvSpPr txBox="1"/>
            <p:nvPr/>
          </p:nvSpPr>
          <p:spPr>
            <a:xfrm>
              <a:off x="947547" y="4787900"/>
              <a:ext cx="59859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실질금리(10년물 TIPS) 확인값: 2020.7 </a:t>
              </a:r>
              <a:r>
                <a:rPr lang="ko-KR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-0.93%</a:t>
              </a:r>
              <a:r>
                <a:rPr lang="ko-KR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(사상 최저) → 2023.8 2% 돌파 → 2026.10.8 </a:t>
              </a:r>
              <a:r>
                <a:rPr lang="ko-KR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2.87%</a:t>
              </a:r>
            </a:p>
          </p:txBody>
        </p:sp>
      </p:grpSp>
      <p:grpSp>
        <p:nvGrpSpPr>
          <p:cNvPr id="79" name="principle"/>
          <p:cNvGrpSpPr/>
          <p:nvPr/>
        </p:nvGrpSpPr>
        <p:grpSpPr>
          <a:xfrm>
            <a:off x="7528560" y="1549400"/>
            <a:ext cx="4046600" cy="1047496"/>
            <a:chOff x="7528560" y="1549400"/>
            <a:chExt cx="4046600" cy="1047496"/>
          </a:xfrm>
        </p:grpSpPr>
        <p:grpSp>
          <p:nvGrpSpPr>
            <p:cNvPr id="74" name="Group 74"/>
            <p:cNvGrpSpPr/>
            <p:nvPr/>
          </p:nvGrpSpPr>
          <p:grpSpPr>
            <a:xfrm>
              <a:off x="7572375" y="1562100"/>
              <a:ext cx="171450" cy="171450"/>
              <a:chOff x="7572375" y="1562100"/>
              <a:chExt cx="171450" cy="17145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610475" y="172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600950" y="1581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9525"/>
                    </a:moveTo>
                    <a:lnTo>
                      <a:pt x="57150" y="0"/>
                    </a:lnTo>
                    <a:lnTo>
                      <a:pt x="11430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658100" y="1562100"/>
                <a:ext cx="95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1925">
                    <a:moveTo>
                      <a:pt x="0" y="0"/>
                    </a:moveTo>
                    <a:lnTo>
                      <a:pt x="0" y="1619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572375" y="1590675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57150" y="57150"/>
                    </a:moveTo>
                    <a:lnTo>
                      <a:pt x="28575" y="0"/>
                    </a:lnTo>
                    <a:lnTo>
                      <a:pt x="0" y="57150"/>
                    </a:lnTo>
                    <a:cubicBezTo>
                      <a:pt x="0" y="72932"/>
                      <a:pt x="12793" y="85725"/>
                      <a:pt x="28575" y="85725"/>
                    </a:cubicBezTo>
                    <a:cubicBezTo>
                      <a:pt x="44357" y="85725"/>
                      <a:pt x="57150" y="72932"/>
                      <a:pt x="57150" y="571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686675" y="1590675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57150" y="57150"/>
                    </a:moveTo>
                    <a:lnTo>
                      <a:pt x="28575" y="0"/>
                    </a:lnTo>
                    <a:lnTo>
                      <a:pt x="0" y="57150"/>
                    </a:lnTo>
                    <a:cubicBezTo>
                      <a:pt x="0" y="72932"/>
                      <a:pt x="12793" y="85725"/>
                      <a:pt x="28575" y="85725"/>
                    </a:cubicBezTo>
                    <a:cubicBezTo>
                      <a:pt x="44357" y="85725"/>
                      <a:pt x="57150" y="72932"/>
                      <a:pt x="57150" y="571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841742" y="1549400"/>
              <a:ext cx="37334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원리: 실질금리가 오르면 금 보유 비용이 커짐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28560" y="1879600"/>
              <a:ext cx="11966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-0.82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95004" y="1873250"/>
              <a:ext cx="24886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금 실질가격과 10년물 TIPS 수익률의</a:t>
              </a:r>
              <a:b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상관계수 (1997.1~2012.3)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37704" y="2362200"/>
              <a:ext cx="3575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10년물 금리 25bp 하락 ≈ 금 가격 </a:t>
              </a:r>
              <a:r>
                <a:rPr lang="ko-KR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+1.75%</a:t>
              </a: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(WGC)</a:t>
              </a:r>
            </a:p>
          </p:txBody>
        </p:sp>
      </p:grpSp>
      <p:grpSp>
        <p:nvGrpSpPr>
          <p:cNvPr id="93" name="decoupling"/>
          <p:cNvGrpSpPr/>
          <p:nvPr/>
        </p:nvGrpSpPr>
        <p:grpSpPr>
          <a:xfrm>
            <a:off x="7537704" y="2676525"/>
            <a:ext cx="4273296" cy="1083818"/>
            <a:chOff x="7537704" y="2676525"/>
            <a:chExt cx="4273296" cy="1083818"/>
          </a:xfrm>
        </p:grpSpPr>
        <p:sp>
          <p:nvSpPr>
            <p:cNvPr id="80" name="Line 80"/>
            <p:cNvSpPr/>
            <p:nvPr/>
          </p:nvSpPr>
          <p:spPr>
            <a:xfrm>
              <a:off x="7543800" y="2676525"/>
              <a:ext cx="4267200" cy="9525"/>
            </a:xfrm>
            <a:custGeom>
              <a:avLst/>
              <a:gdLst/>
              <a:ahLst/>
              <a:cxnLst/>
              <a:rect l="l" t="t" r="r" b="b"/>
              <a:pathLst>
                <a:path w="4267200" h="9525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572375" y="2828925"/>
              <a:ext cx="171450" cy="180975"/>
              <a:chOff x="7572375" y="2828925"/>
              <a:chExt cx="171450" cy="18097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572375" y="300037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572375" y="28956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591425" y="2828925"/>
                <a:ext cx="1333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8575">
                    <a:moveTo>
                      <a:pt x="0" y="28575"/>
                    </a:moveTo>
                    <a:lnTo>
                      <a:pt x="66675" y="0"/>
                    </a:lnTo>
                    <a:lnTo>
                      <a:pt x="133350" y="285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581900" y="2895600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734300" y="2895600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620000" y="29337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658100" y="29337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696200" y="29337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841742" y="2816225"/>
              <a:ext cx="36761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탈동조화: 중앙은행 매입이 금리 영향을 상쇄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537704" y="3073400"/>
              <a:ext cx="4003929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2022년 TIPS 수익률 약 250bp 상승에도 금은 소폭 상승함</a:t>
              </a:r>
              <a:b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2022~2024년 매입량은 2010~21년 평균(473t)의 </a:t>
              </a:r>
              <a:r>
                <a:rPr lang="ko-KR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2배 이상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538847" y="3568700"/>
              <a:ext cx="18199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중앙은행 금 순매입 (t, WGC)</a:t>
              </a:r>
            </a:p>
          </p:txBody>
        </p:sp>
      </p:grpSp>
      <p:grpSp>
        <p:nvGrpSpPr>
          <p:cNvPr id="113" name="cb-purchases"/>
          <p:cNvGrpSpPr/>
          <p:nvPr/>
        </p:nvGrpSpPr>
        <p:grpSpPr>
          <a:xfrm>
            <a:off x="7620000" y="3760153"/>
            <a:ext cx="4114800" cy="1200340"/>
            <a:chOff x="7620000" y="3760153"/>
            <a:chExt cx="4114800" cy="1200340"/>
          </a:xfrm>
        </p:grpSpPr>
        <p:grpSp>
          <p:nvGrpSpPr>
            <p:cNvPr id="100" name="cb-purchases-chartArea"/>
            <p:cNvGrpSpPr/>
            <p:nvPr/>
          </p:nvGrpSpPr>
          <p:grpSpPr>
            <a:xfrm>
              <a:off x="7620000" y="3944302"/>
              <a:ext cx="4114800" cy="789623"/>
              <a:chOff x="7620000" y="3944302"/>
              <a:chExt cx="4114800" cy="789623"/>
            </a:xfrm>
          </p:grpSpPr>
          <p:sp>
            <p:nvSpPr>
              <p:cNvPr id="94" name="Line 94"/>
              <p:cNvSpPr/>
              <p:nvPr/>
            </p:nvSpPr>
            <p:spPr>
              <a:xfrm>
                <a:off x="7620000" y="4724400"/>
                <a:ext cx="411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14800" h="9525">
                    <a:moveTo>
                      <a:pt x="0" y="0"/>
                    </a:moveTo>
                    <a:lnTo>
                      <a:pt x="4114800" y="0"/>
                    </a:lnTo>
                  </a:path>
                </a:pathLst>
              </a:custGeom>
              <a:noFill/>
              <a:ln w="9525">
                <a:solidFill>
                  <a:srgbClr val="6B6B6B"/>
                </a:solidFill>
              </a:ln>
            </p:spPr>
          </p:sp>
          <p:sp>
            <p:nvSpPr>
              <p:cNvPr id="95" name="Rectangle 95"/>
              <p:cNvSpPr/>
              <p:nvPr/>
            </p:nvSpPr>
            <p:spPr>
              <a:xfrm>
                <a:off x="7764780" y="4386262"/>
                <a:ext cx="533400" cy="338138"/>
              </a:xfrm>
              <a:prstGeom prst="rect">
                <a:avLst/>
              </a:prstGeom>
              <a:solidFill>
                <a:srgbClr val="8A9BB5"/>
              </a:solidFill>
              <a:ln>
                <a:noFill/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8587740" y="3951922"/>
                <a:ext cx="533400" cy="77247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7" name="Rectangle 97"/>
              <p:cNvSpPr/>
              <p:nvPr/>
            </p:nvSpPr>
            <p:spPr>
              <a:xfrm>
                <a:off x="9410700" y="3983355"/>
                <a:ext cx="533400" cy="74104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10233660" y="3944302"/>
                <a:ext cx="533400" cy="78009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9" name="Rectangle 99"/>
              <p:cNvSpPr/>
              <p:nvPr/>
            </p:nvSpPr>
            <p:spPr>
              <a:xfrm>
                <a:off x="11056620" y="4108132"/>
                <a:ext cx="533400" cy="6162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12" name="cb-purchases-labels"/>
            <p:cNvGrpSpPr/>
            <p:nvPr/>
          </p:nvGrpSpPr>
          <p:grpSpPr>
            <a:xfrm>
              <a:off x="7620850" y="3760153"/>
              <a:ext cx="3852544" cy="1200340"/>
              <a:chOff x="7620850" y="3760153"/>
              <a:chExt cx="3852544" cy="1200340"/>
            </a:xfrm>
          </p:grpSpPr>
          <p:sp>
            <p:nvSpPr>
              <p:cNvPr id="101" name="TextBox 101"/>
              <p:cNvSpPr txBox="1"/>
              <p:nvPr/>
            </p:nvSpPr>
            <p:spPr>
              <a:xfrm>
                <a:off x="7917687" y="4202112"/>
                <a:ext cx="22758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473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8659017" y="3767772"/>
                <a:ext cx="39084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1,082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9481977" y="3799205"/>
                <a:ext cx="39084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1,037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10304937" y="3760153"/>
                <a:ext cx="39084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1,092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11204085" y="3923983"/>
                <a:ext cx="23847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863</a:t>
                </a:r>
              </a:p>
            </p:txBody>
          </p:sp>
          <p:grpSp>
            <p:nvGrpSpPr>
              <p:cNvPr id="111" name="Group 111"/>
              <p:cNvGrpSpPr/>
              <p:nvPr/>
            </p:nvGrpSpPr>
            <p:grpSpPr>
              <a:xfrm>
                <a:off x="7620850" y="4768850"/>
                <a:ext cx="3852544" cy="191643"/>
                <a:chOff x="7620850" y="4768850"/>
                <a:chExt cx="3852544" cy="191643"/>
              </a:xfrm>
            </p:grpSpPr>
            <p:sp>
              <p:nvSpPr>
                <p:cNvPr id="106" name="TextBox 106"/>
                <p:cNvSpPr txBox="1"/>
                <p:nvPr/>
              </p:nvSpPr>
              <p:spPr>
                <a:xfrm>
                  <a:off x="7620850" y="4768850"/>
                  <a:ext cx="821261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2010~21 평균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8704367" y="4768850"/>
                  <a:ext cx="30014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2022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9527327" y="4768850"/>
                  <a:ext cx="30014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2023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10350287" y="4768850"/>
                  <a:ext cx="30014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2024</a:t>
                  </a:r>
                </a:p>
              </p:txBody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11173247" y="4768850"/>
                  <a:ext cx="30014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ko-KR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2025</a:t>
                  </a:r>
                </a:p>
              </p:txBody>
            </p:sp>
          </p:grpSp>
        </p:grpSp>
      </p:grpSp>
      <p:grpSp>
        <p:nvGrpSpPr>
          <p:cNvPr id="124" name="rate-outlook"/>
          <p:cNvGrpSpPr/>
          <p:nvPr/>
        </p:nvGrpSpPr>
        <p:grpSpPr>
          <a:xfrm>
            <a:off x="374904" y="5143500"/>
            <a:ext cx="5530596" cy="1212596"/>
            <a:chOff x="374904" y="5143500"/>
            <a:chExt cx="5530596" cy="1212596"/>
          </a:xfrm>
        </p:grpSpPr>
        <p:sp>
          <p:nvSpPr>
            <p:cNvPr id="114" name="Line 114"/>
            <p:cNvSpPr/>
            <p:nvPr/>
          </p:nvSpPr>
          <p:spPr>
            <a:xfrm>
              <a:off x="381000" y="5143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21" name="Group 121"/>
            <p:cNvGrpSpPr/>
            <p:nvPr/>
          </p:nvGrpSpPr>
          <p:grpSpPr>
            <a:xfrm>
              <a:off x="409575" y="5267325"/>
              <a:ext cx="180975" cy="180975"/>
              <a:chOff x="409575" y="5267325"/>
              <a:chExt cx="180975" cy="180975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409575" y="52863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83772" y="152400"/>
                    </a:move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5715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552450" y="53721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0" y="38100"/>
                    </a:ln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514350" y="5372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523875" y="52673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447675" y="52673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409575" y="534352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122" name="TextBox 122"/>
            <p:cNvSpPr txBox="1"/>
            <p:nvPr/>
          </p:nvSpPr>
          <p:spPr>
            <a:xfrm>
              <a:off x="678942" y="5254625"/>
              <a:ext cx="2891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금리 전망: 연준은 인상으로 돌아섬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374904" y="5492750"/>
              <a:ext cx="5201412" cy="863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기준금리 </a:t>
              </a:r>
              <a:r>
                <a:rPr lang="ko-KR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3.75~4.00%</a:t>
              </a: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(2026.9.16 0.25%p 인상)</a:t>
              </a:r>
              <a:b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앞서 2024.9~2025.12 1.75%p 인하, 2026.7 동결</a:t>
              </a:r>
              <a:b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연준 9월 점도표: 2026말 4.1% · 2027말 4.1% · 장기 3.2% (6월보다 상향)</a:t>
              </a:r>
              <a:b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12월 인상 확률 </a:t>
              </a:r>
              <a:r>
                <a:rPr lang="ko-KR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82%</a:t>
              </a:r>
              <a:r>
                <a:rPr lang="ko-KR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(CME, 10.9) · 10년물 2026.12 전망 5.10%(WSJ)</a:t>
              </a:r>
            </a:p>
          </p:txBody>
        </p:sp>
      </p:grpSp>
      <p:grpSp>
        <p:nvGrpSpPr>
          <p:cNvPr id="130" name="gold-outlook-head"/>
          <p:cNvGrpSpPr/>
          <p:nvPr/>
        </p:nvGrpSpPr>
        <p:grpSpPr>
          <a:xfrm>
            <a:off x="6210300" y="5143500"/>
            <a:ext cx="5600700" cy="375158"/>
            <a:chOff x="6210300" y="5143500"/>
            <a:chExt cx="5600700" cy="375158"/>
          </a:xfrm>
        </p:grpSpPr>
        <p:sp>
          <p:nvSpPr>
            <p:cNvPr id="125" name="Line 125"/>
            <p:cNvSpPr/>
            <p:nvPr/>
          </p:nvSpPr>
          <p:spPr>
            <a:xfrm>
              <a:off x="6210300" y="51435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28" name="Group 128"/>
            <p:cNvGrpSpPr/>
            <p:nvPr/>
          </p:nvGrpSpPr>
          <p:grpSpPr>
            <a:xfrm>
              <a:off x="6238875" y="5305425"/>
              <a:ext cx="171450" cy="95250"/>
              <a:chOff x="6238875" y="5305425"/>
              <a:chExt cx="171450" cy="9525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6238875" y="5305425"/>
                <a:ext cx="1714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0">
                    <a:moveTo>
                      <a:pt x="0" y="95250"/>
                    </a:moveTo>
                    <a:lnTo>
                      <a:pt x="57150" y="38100"/>
                    </a:lnTo>
                    <a:lnTo>
                      <a:pt x="95250" y="7620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6343650" y="53054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29" name="TextBox 129"/>
            <p:cNvSpPr txBox="1"/>
            <p:nvPr/>
          </p:nvSpPr>
          <p:spPr>
            <a:xfrm>
              <a:off x="6508242" y="5254625"/>
              <a:ext cx="3969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금 가격 전망: 현재 4,143달러, 고점 대비 </a:t>
              </a:r>
              <a:r>
                <a:rPr lang="ko-KR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-26%</a:t>
              </a:r>
            </a:p>
          </p:txBody>
        </p:sp>
      </p:grpSp>
      <p:grpSp>
        <p:nvGrpSpPr>
          <p:cNvPr id="160" name="gold-outlook"/>
          <p:cNvGrpSpPr/>
          <p:nvPr/>
        </p:nvGrpSpPr>
        <p:grpSpPr>
          <a:xfrm>
            <a:off x="6210300" y="5524500"/>
            <a:ext cx="5600700" cy="790575"/>
            <a:chOff x="6210300" y="5524500"/>
            <a:chExt cx="5600700" cy="790575"/>
          </a:xfrm>
        </p:grpSpPr>
        <p:sp>
          <p:nvSpPr>
            <p:cNvPr id="131" name="Rectangle 131"/>
            <p:cNvSpPr/>
            <p:nvPr/>
          </p:nvSpPr>
          <p:spPr>
            <a:xfrm>
              <a:off x="6210300" y="5524500"/>
              <a:ext cx="56007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6210300" y="5753100"/>
              <a:ext cx="5600700" cy="561975"/>
              <a:chOff x="6210300" y="5753100"/>
              <a:chExt cx="5600700" cy="561975"/>
            </a:xfrm>
          </p:grpSpPr>
          <p:sp>
            <p:nvSpPr>
              <p:cNvPr id="132" name="Line 132"/>
              <p:cNvSpPr/>
              <p:nvPr/>
            </p:nvSpPr>
            <p:spPr>
              <a:xfrm>
                <a:off x="6210300" y="5753100"/>
                <a:ext cx="5600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00700" h="9525">
                    <a:moveTo>
                      <a:pt x="0" y="0"/>
                    </a:moveTo>
                    <a:lnTo>
                      <a:pt x="5600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33" name="Line 133"/>
              <p:cNvSpPr/>
              <p:nvPr/>
            </p:nvSpPr>
            <p:spPr>
              <a:xfrm>
                <a:off x="6210300" y="6038850"/>
                <a:ext cx="5600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00700" h="9525">
                    <a:moveTo>
                      <a:pt x="0" y="0"/>
                    </a:moveTo>
                    <a:lnTo>
                      <a:pt x="5600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34" name="Line 134"/>
              <p:cNvSpPr/>
              <p:nvPr/>
            </p:nvSpPr>
            <p:spPr>
              <a:xfrm>
                <a:off x="6210300" y="6305550"/>
                <a:ext cx="5600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00700" h="9525">
                    <a:moveTo>
                      <a:pt x="0" y="0"/>
                    </a:moveTo>
                    <a:lnTo>
                      <a:pt x="5600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42" name="Group 142"/>
            <p:cNvGrpSpPr/>
            <p:nvPr/>
          </p:nvGrpSpPr>
          <p:grpSpPr>
            <a:xfrm>
              <a:off x="6970903" y="5559425"/>
              <a:ext cx="4570862" cy="191643"/>
              <a:chOff x="6970903" y="5559425"/>
              <a:chExt cx="4570862" cy="191643"/>
            </a:xfrm>
          </p:grpSpPr>
          <p:sp>
            <p:nvSpPr>
              <p:cNvPr id="136" name="TextBox 136"/>
              <p:cNvSpPr txBox="1"/>
              <p:nvPr/>
            </p:nvSpPr>
            <p:spPr>
              <a:xfrm>
                <a:off x="6970903" y="5559425"/>
                <a:ext cx="6695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골드만삭스</a:t>
                </a:r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7826943" y="5559425"/>
                <a:ext cx="59576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J.P.모건</a:t>
                </a:r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8782333" y="5559425"/>
                <a:ext cx="32328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BofA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9626244" y="5559425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씨티</a:t>
                </a: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10456571" y="5559425"/>
                <a:ext cx="25140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UBS</a:t>
                </a:r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11261084" y="5559425"/>
                <a:ext cx="28068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WGC</a:t>
                </a: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243447" y="5816600"/>
              <a:ext cx="682737" cy="467868"/>
              <a:chOff x="6243447" y="5816600"/>
              <a:chExt cx="682737" cy="467868"/>
            </a:xfrm>
          </p:grpSpPr>
          <p:sp>
            <p:nvSpPr>
              <p:cNvPr id="143" name="TextBox 143"/>
              <p:cNvSpPr txBox="1"/>
              <p:nvPr/>
            </p:nvSpPr>
            <p:spPr>
              <a:xfrm>
                <a:off x="6243447" y="5816600"/>
                <a:ext cx="68273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전망(달러)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6243447" y="6092825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시점</a:t>
                </a:r>
              </a:p>
            </p:txBody>
          </p:sp>
        </p:grpSp>
        <p:grpSp>
          <p:nvGrpSpPr>
            <p:cNvPr id="152" name="Group 152"/>
            <p:cNvGrpSpPr/>
            <p:nvPr/>
          </p:nvGrpSpPr>
          <p:grpSpPr>
            <a:xfrm>
              <a:off x="7066350" y="5800725"/>
              <a:ext cx="4731300" cy="234696"/>
              <a:chOff x="7066350" y="5800725"/>
              <a:chExt cx="4731300" cy="234696"/>
            </a:xfrm>
          </p:grpSpPr>
          <p:sp>
            <p:nvSpPr>
              <p:cNvPr id="146" name="TextBox 146"/>
              <p:cNvSpPr txBox="1"/>
              <p:nvPr/>
            </p:nvSpPr>
            <p:spPr>
              <a:xfrm>
                <a:off x="7066350" y="5800725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4,900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7885500" y="5800725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4,500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8704650" y="5800725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3,750</a:t>
                </a: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9523800" y="5800725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4,500</a:t>
                </a:r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10342950" y="5800725"/>
                <a:ext cx="478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5,000</a:t>
                </a:r>
              </a:p>
            </p:txBody>
          </p:sp>
          <p:sp>
            <p:nvSpPr>
              <p:cNvPr id="151" name="TextBox 151"/>
              <p:cNvSpPr txBox="1"/>
              <p:nvPr/>
            </p:nvSpPr>
            <p:spPr>
              <a:xfrm>
                <a:off x="11005200" y="5800725"/>
                <a:ext cx="7924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4,100±5%</a:t>
                </a: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7003885" y="6092825"/>
              <a:ext cx="4752101" cy="191643"/>
              <a:chOff x="7003885" y="6092825"/>
              <a:chExt cx="4752101" cy="191643"/>
            </a:xfrm>
          </p:grpSpPr>
          <p:sp>
            <p:nvSpPr>
              <p:cNvPr id="153" name="TextBox 153"/>
              <p:cNvSpPr txBox="1"/>
              <p:nvPr/>
            </p:nvSpPr>
            <p:spPr>
              <a:xfrm>
                <a:off x="7003885" y="6092825"/>
                <a:ext cx="60358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2026년 말</a:t>
                </a:r>
              </a:p>
            </p:txBody>
          </p:sp>
          <p:sp>
            <p:nvSpPr>
              <p:cNvPr id="154" name="TextBox 154"/>
              <p:cNvSpPr txBox="1"/>
              <p:nvPr/>
            </p:nvSpPr>
            <p:spPr>
              <a:xfrm>
                <a:off x="7799948" y="6092825"/>
                <a:ext cx="64975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4분기 평균</a:t>
                </a:r>
              </a:p>
            </p:txBody>
          </p:sp>
          <p:sp>
            <p:nvSpPr>
              <p:cNvPr id="155" name="TextBox 155"/>
              <p:cNvSpPr txBox="1"/>
              <p:nvPr/>
            </p:nvSpPr>
            <p:spPr>
              <a:xfrm>
                <a:off x="8770814" y="6092825"/>
                <a:ext cx="34632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4분기</a:t>
                </a: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9481124" y="6092825"/>
                <a:ext cx="56400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6~12개월</a:t>
                </a:r>
              </a:p>
            </p:txBody>
          </p:sp>
          <p:sp>
            <p:nvSpPr>
              <p:cNvPr id="157" name="TextBox 157"/>
              <p:cNvSpPr txBox="1"/>
              <p:nvPr/>
            </p:nvSpPr>
            <p:spPr>
              <a:xfrm>
                <a:off x="10214521" y="6092825"/>
                <a:ext cx="73550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2027 상반기</a:t>
                </a:r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11046864" y="6092825"/>
                <a:ext cx="70912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하반기 기본</a:t>
                </a:r>
              </a:p>
            </p:txBody>
          </p:sp>
        </p:grpSp>
      </p:grpSp>
      <p:grpSp>
        <p:nvGrpSpPr>
          <p:cNvPr id="163" name="footer"/>
          <p:cNvGrpSpPr/>
          <p:nvPr/>
        </p:nvGrpSpPr>
        <p:grpSpPr>
          <a:xfrm>
            <a:off x="376047" y="6407150"/>
            <a:ext cx="9920282" cy="353568"/>
            <a:chOff x="376047" y="6407150"/>
            <a:chExt cx="9920282" cy="353568"/>
          </a:xfrm>
        </p:grpSpPr>
        <p:sp>
          <p:nvSpPr>
            <p:cNvPr id="161" name="TextBox 161"/>
            <p:cNvSpPr txBox="1"/>
            <p:nvPr/>
          </p:nvSpPr>
          <p:spPr>
            <a:xfrm>
              <a:off x="376047" y="6407150"/>
              <a:ext cx="9621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출처: FRED(GS10), LBMA·NMA(금 연평균), World Gold Council, Federal Reserve(H.15·SEP), CME FedWatch, Erb &amp; Harvey, WSJ, Kitco·Bloomberg 보도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376047" y="6569075"/>
              <a:ext cx="99202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주: 차트 금리는 명목 10년물 연평균임. 기관 전망은 보도 기준이며 골드만삭스는 연준 인상 시 2026년 말 4,440달러 제시. 2021~2023년 금 가격은 LBMA 기반 반올림값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us_rates_gold">
  <a:themeElements>
    <a:clrScheme name="us_rates_gold">
      <a:dk1>
        <a:srgbClr val="222222"/>
      </a:dk1>
      <a:lt1>
        <a:srgbClr val="FFFFFF"/>
      </a:lt1>
      <a:dk2>
        <a:srgbClr val="1F497D"/>
      </a:dk2>
      <a:lt2>
        <a:srgbClr val="F5F3EE"/>
      </a:lt2>
      <a:accent1>
        <a:srgbClr val="1F2A44"/>
      </a:accent1>
      <a:accent2>
        <a:srgbClr val="B8862B"/>
      </a:accent2>
      <a:accent3>
        <a:srgbClr val="5B7FA6"/>
      </a:accent3>
      <a:accent4>
        <a:srgbClr val="1F2A44"/>
      </a:accent4>
      <a:accent5>
        <a:srgbClr val="6B6B6B"/>
      </a:accent5>
      <a:accent6>
        <a:srgbClr val="D9D6CF"/>
      </a:accent6>
      <a:hlink>
        <a:srgbClr val="B8862B"/>
      </a:hlink>
      <a:folHlink>
        <a:srgbClr val="5B7FA6"/>
      </a:folHlink>
    </a:clrScheme>
    <a:fontScheme name="us_rates_gold">
      <a:majorFont>
        <a:latin typeface="Arial"/>
        <a:ea typeface="Malgun Gothic"/>
        <a:cs typeface="Arial"/>
        <a:font script="Jpan" typeface="Malgun Gothic"/>
        <a:font script="Hang" typeface="Malgun Gothic"/>
        <a:font script="Hans" typeface="Malgun Gothic"/>
        <a:font script="Hant" typeface="Malgun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algun Gothic"/>
        <a:cs typeface="Arial"/>
        <a:font script="Jpan" typeface="Malgun Gothic"/>
        <a:font script="Hang" typeface="Malgun Gothic"/>
        <a:font script="Hans" typeface="Malgun Gothic"/>
        <a:font script="Hant" typeface="Malgun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s_rates_go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us_rates_gold">
  <a:themeElements>
    <a:clrScheme name="us_rates_gold">
      <a:dk1>
        <a:srgbClr val="222222"/>
      </a:dk1>
      <a:lt1>
        <a:srgbClr val="FFFFFF"/>
      </a:lt1>
      <a:dk2>
        <a:srgbClr val="1F497D"/>
      </a:dk2>
      <a:lt2>
        <a:srgbClr val="F5F3EE"/>
      </a:lt2>
      <a:accent1>
        <a:srgbClr val="1F2A44"/>
      </a:accent1>
      <a:accent2>
        <a:srgbClr val="B8862B"/>
      </a:accent2>
      <a:accent3>
        <a:srgbClr val="5B7FA6"/>
      </a:accent3>
      <a:accent4>
        <a:srgbClr val="1F2A44"/>
      </a:accent4>
      <a:accent5>
        <a:srgbClr val="6B6B6B"/>
      </a:accent5>
      <a:accent6>
        <a:srgbClr val="D9D6CF"/>
      </a:accent6>
      <a:hlink>
        <a:srgbClr val="B8862B"/>
      </a:hlink>
      <a:folHlink>
        <a:srgbClr val="5B7FA6"/>
      </a:folHlink>
    </a:clrScheme>
    <a:fontScheme name="us_rates_gold">
      <a:majorFont>
        <a:latin typeface="Arial"/>
        <a:ea typeface="Malgun Gothic"/>
        <a:cs typeface="Arial"/>
        <a:font script="Jpan" typeface="Malgun Gothic"/>
        <a:font script="Hang" typeface="Malgun Gothic"/>
        <a:font script="Hans" typeface="Malgun Gothic"/>
        <a:font script="Hant" typeface="Malgun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algun Gothic"/>
        <a:cs typeface="Arial"/>
        <a:font script="Jpan" typeface="Malgun Gothic"/>
        <a:font script="Hang" typeface="Malgun Gothic"/>
        <a:font script="Hans" typeface="Malgun Gothic"/>
        <a:font script="Hant" typeface="Malgun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s_rates_go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ko-KR</dc:language>
  <cp:lastModifiedBy/>
  <cp:revision>1</cp:revision>
  <dcterms:created xsi:type="dcterms:W3CDTF">2026-10-12T12:27:02Z</dcterms:created>
  <dcterms:modified xsi:type="dcterms:W3CDTF">2026-10-12T12:27:02Z</dcterms:modified>
  <cp:category/>
  <cp:contentStatus/>
</cp:coreProperties>
</file>
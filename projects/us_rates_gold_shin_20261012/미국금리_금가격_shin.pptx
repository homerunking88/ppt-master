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1988" cy="7559985"/>
  <p:notesSz cx="7559985" cy="106919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금 가격(달러/온스, 왼쪽)</c:v>
                </c:pt>
              </c:strCache>
            </c:strRef>
          </c:tx>
          <c:spPr>
            <a:solidFill>
              <a:srgbClr val="1F5C63"/>
            </a:solidFill>
            <a:ln w="25400" cap="flat">
              <a:solidFill>
                <a:srgbClr val="1F5C6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F464E"/>
                    </a:solidFill>
                    <a:latin typeface="맑은 고딕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5C63"/>
              </a:solidFill>
              <a:ln w="9525" cap="flat">
                <a:solidFill>
                  <a:srgbClr val="1F5C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07</c:v>
                  </c:pt>
                  <c:pt idx="1">
                    <c:v>08</c:v>
                  </c:pt>
                  <c:pt idx="2">
                    <c:v>09</c:v>
                  </c:pt>
                  <c:pt idx="3">
                    <c:v>10</c:v>
                  </c:pt>
                  <c:pt idx="4">
                    <c:v>11</c:v>
                  </c:pt>
                  <c:pt idx="5">
                    <c:v>12</c:v>
                  </c:pt>
                  <c:pt idx="6">
                    <c:v>13</c:v>
                  </c:pt>
                  <c:pt idx="7">
                    <c:v>14</c:v>
                  </c:pt>
                  <c:pt idx="8">
                    <c:v>15</c:v>
                  </c:pt>
                  <c:pt idx="9">
                    <c:v>16</c:v>
                  </c:pt>
                  <c:pt idx="10">
                    <c:v>17</c:v>
                  </c:pt>
                  <c:pt idx="11">
                    <c:v>18</c:v>
                  </c:pt>
                  <c:pt idx="12">
                    <c:v>19</c:v>
                  </c:pt>
                  <c:pt idx="13">
                    <c:v>20</c:v>
                  </c:pt>
                  <c:pt idx="14">
                    <c:v>21</c:v>
                  </c:pt>
                  <c:pt idx="15">
                    <c:v>22</c:v>
                  </c:pt>
                  <c:pt idx="16">
                    <c:v>23</c:v>
                  </c:pt>
                  <c:pt idx="17">
                    <c:v>24</c:v>
                  </c:pt>
                  <c:pt idx="18">
                    <c:v>25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695.39</c:v>
                </c:pt>
                <c:pt idx="1">
                  <c:v>871.96</c:v>
                </c:pt>
                <c:pt idx="2">
                  <c:v>972.35</c:v>
                </c:pt>
                <c:pt idx="3">
                  <c:v>1224.53</c:v>
                </c:pt>
                <c:pt idx="4">
                  <c:v>1571.52</c:v>
                </c:pt>
                <c:pt idx="5">
                  <c:v>1668.98</c:v>
                </c:pt>
                <c:pt idx="6">
                  <c:v>1411.23</c:v>
                </c:pt>
                <c:pt idx="7">
                  <c:v>1266.4</c:v>
                </c:pt>
                <c:pt idx="8">
                  <c:v>1160.06</c:v>
                </c:pt>
                <c:pt idx="9">
                  <c:v>1250.74</c:v>
                </c:pt>
                <c:pt idx="10">
                  <c:v>1257.12</c:v>
                </c:pt>
                <c:pt idx="11">
                  <c:v>1268.49</c:v>
                </c:pt>
                <c:pt idx="12">
                  <c:v>1392.6</c:v>
                </c:pt>
                <c:pt idx="13">
                  <c:v>1769.64</c:v>
                </c:pt>
                <c:pt idx="14">
                  <c:v>1799</c:v>
                </c:pt>
                <c:pt idx="15">
                  <c:v>1800</c:v>
                </c:pt>
                <c:pt idx="16">
                  <c:v>1941</c:v>
                </c:pt>
                <c:pt idx="17">
                  <c:v>2386.2</c:v>
                </c:pt>
                <c:pt idx="18">
                  <c:v>3431.54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F464E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10년물 국채 명목금리(%, 오른쪽)</c:v>
                </c:pt>
              </c:strCache>
            </c:strRef>
          </c:tx>
          <c:spPr>
            <a:solidFill>
              <a:srgbClr val="5E7C8A"/>
            </a:solidFill>
            <a:ln w="25400" cap="flat">
              <a:solidFill>
                <a:srgbClr val="5E7C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F464E"/>
                    </a:solidFill>
                    <a:latin typeface="맑은 고딕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E7C8A"/>
              </a:solidFill>
              <a:ln w="9525" cap="flat">
                <a:solidFill>
                  <a:srgbClr val="5E7C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07</c:v>
                  </c:pt>
                  <c:pt idx="1">
                    <c:v>08</c:v>
                  </c:pt>
                  <c:pt idx="2">
                    <c:v>09</c:v>
                  </c:pt>
                  <c:pt idx="3">
                    <c:v>10</c:v>
                  </c:pt>
                  <c:pt idx="4">
                    <c:v>11</c:v>
                  </c:pt>
                  <c:pt idx="5">
                    <c:v>12</c:v>
                  </c:pt>
                  <c:pt idx="6">
                    <c:v>13</c:v>
                  </c:pt>
                  <c:pt idx="7">
                    <c:v>14</c:v>
                  </c:pt>
                  <c:pt idx="8">
                    <c:v>15</c:v>
                  </c:pt>
                  <c:pt idx="9">
                    <c:v>16</c:v>
                  </c:pt>
                  <c:pt idx="10">
                    <c:v>17</c:v>
                  </c:pt>
                  <c:pt idx="11">
                    <c:v>18</c:v>
                  </c:pt>
                  <c:pt idx="12">
                    <c:v>19</c:v>
                  </c:pt>
                  <c:pt idx="13">
                    <c:v>20</c:v>
                  </c:pt>
                  <c:pt idx="14">
                    <c:v>21</c:v>
                  </c:pt>
                  <c:pt idx="15">
                    <c:v>22</c:v>
                  </c:pt>
                  <c:pt idx="16">
                    <c:v>23</c:v>
                  </c:pt>
                  <c:pt idx="17">
                    <c:v>24</c:v>
                  </c:pt>
                  <c:pt idx="18">
                    <c:v>25</c:v>
                  </c:pt>
                </c:lvl>
              </c:multiLvlStrCache>
            </c:multiLvl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4.63</c:v>
                </c:pt>
                <c:pt idx="1">
                  <c:v>3.67</c:v>
                </c:pt>
                <c:pt idx="2">
                  <c:v>3.26</c:v>
                </c:pt>
                <c:pt idx="3">
                  <c:v>3.21</c:v>
                </c:pt>
                <c:pt idx="4">
                  <c:v>2.79</c:v>
                </c:pt>
                <c:pt idx="5">
                  <c:v>1.8</c:v>
                </c:pt>
                <c:pt idx="6">
                  <c:v>2.35</c:v>
                </c:pt>
                <c:pt idx="7">
                  <c:v>2.54</c:v>
                </c:pt>
                <c:pt idx="8">
                  <c:v>2.13</c:v>
                </c:pt>
                <c:pt idx="9">
                  <c:v>1.84</c:v>
                </c:pt>
                <c:pt idx="10">
                  <c:v>2.33</c:v>
                </c:pt>
                <c:pt idx="11">
                  <c:v>2.91</c:v>
                </c:pt>
                <c:pt idx="12">
                  <c:v>2.14</c:v>
                </c:pt>
                <c:pt idx="13">
                  <c:v>0.89</c:v>
                </c:pt>
                <c:pt idx="14">
                  <c:v>1.44</c:v>
                </c:pt>
                <c:pt idx="15">
                  <c:v>2.95</c:v>
                </c:pt>
                <c:pt idx="16">
                  <c:v>3.96</c:v>
                </c:pt>
                <c:pt idx="17">
                  <c:v>4.21</c:v>
                </c:pt>
                <c:pt idx="18">
                  <c:v>4.26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F464E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D21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00"/>
          <c:min val="0"/>
        </c:scaling>
        <c:delete val="0"/>
        <c:axPos val="l"/>
        <c:majorGridlines>
          <c:spPr>
            <a:ln w="6350" cap="flat">
              <a:solidFill>
                <a:srgbClr val="D5D9D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29B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  <c:majorUnit val="600"/>
      </c:valAx>
      <c:valAx>
        <c:axId val="2094734553"/>
        <c:scaling>
          <c:orientation val="minMax"/>
          <c:max val="6"/>
          <c:min val="0"/>
        </c:scaling>
        <c:delete val="0"/>
        <c:axPos val="r"/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29B"/>
                </a:solidFill>
                <a:latin typeface="맑은 고딕"/>
              </a:defRPr>
            </a:pPr>
            <a:endParaRPr lang="en-US"/>
          </a:p>
        </c:txPr>
        <c:crossAx val="2094734555"/>
        <c:crosses val="max"/>
        <c:crossBetween val="between"/>
        <c:majorUnit val="1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D21"/>
                </a:solidFill>
                <a:latin typeface="맑은 고딕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F464E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순매입(t)</c:v>
                </c:pt>
              </c:strCache>
            </c:strRef>
          </c:tx>
          <c:spPr>
            <a:solidFill>
              <a:srgbClr val="D5D9D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F464E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5D9D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5C6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5C6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5C6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5C6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과거 평균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473</c:v>
                </c:pt>
                <c:pt idx="1">
                  <c:v>1081.9</c:v>
                </c:pt>
                <c:pt idx="2">
                  <c:v>1037.4</c:v>
                </c:pt>
                <c:pt idx="3">
                  <c:v>1092.4</c:v>
                </c:pt>
                <c:pt idx="4">
                  <c:v>863.3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F464E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D21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29B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9456"/>
            <a:ext cx="71258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금리 · 금 가격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420624"/>
            <a:ext cx="9503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21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금 가격과 실질금리의 역관계, 2022년 이후 중앙은행 매입으로 약해짐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94360" y="822960"/>
            <a:ext cx="9503268" cy="25603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969264"/>
            <a:ext cx="9503268" cy="694944"/>
          </a:xfrm>
          <a:prstGeom prst="roundRect">
            <a:avLst>
              <a:gd name="adj" fmla="val 6579"/>
            </a:avLst>
          </a:prstGeom>
          <a:solidFill>
            <a:srgbClr val="2A3138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969264"/>
            <a:ext cx="91740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금과 실질금리 역관계(상관 -0.82)는 2022년 이후 약화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7FB3BA"/>
                </a:solidFill>
                <a:latin typeface="HY헤드라인M" pitchFamily="34" charset="0"/>
                <a:ea typeface="HY헤드라인M" pitchFamily="34" charset="-122"/>
                <a:cs typeface="HY헤드라인M" pitchFamily="34" charset="-120"/>
              </a:rPr>
              <a:t>중앙은행 3년 연속 1,000t 이상 매입, 금은 고점 대비 -26%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847088"/>
            <a:ext cx="54864" cy="256032"/>
          </a:xfrm>
          <a:prstGeom prst="rect">
            <a:avLst/>
          </a:prstGeom>
          <a:solidFill>
            <a:srgbClr val="1F5C63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 가격과 10년물 금리 추이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0664" y="1828800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연평균, 2007~2025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94360" y="2194560"/>
          <a:ext cx="5303520" cy="23957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594360" y="460857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실질금리(TIPS): 2020.7 </a:t>
            </a:r>
            <a:pPr indent="0" marL="0">
              <a:buNone/>
            </a:pPr>
            <a:r>
              <a:rPr lang="en-US" sz="10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-0.93%</a:t>
            </a:r>
            <a:pPr indent="0" marL="0">
              <a:buNone/>
            </a:pPr>
            <a:r>
              <a:rPr lang="en-US" sz="105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(최저) → 2023.8 2% 돌파 → 26.10.8 </a:t>
            </a:r>
            <a:pPr indent="0" marL="0">
              <a:buNone/>
            </a:pPr>
            <a:r>
              <a:rPr lang="en-US" sz="10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2.87%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94360" y="5157216"/>
            <a:ext cx="54864" cy="256032"/>
          </a:xfrm>
          <a:prstGeom prst="rect">
            <a:avLst/>
          </a:prstGeom>
          <a:solidFill>
            <a:srgbClr val="1F5C63"/>
          </a:solidFill>
          <a:ln/>
        </p:spPr>
      </p:sp>
      <p:sp>
        <p:nvSpPr>
          <p:cNvPr id="13" name="Text 10"/>
          <p:cNvSpPr/>
          <p:nvPr/>
        </p:nvSpPr>
        <p:spPr>
          <a:xfrm>
            <a:off x="740664" y="51389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 가격 전망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40664" y="5138928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달러/온스 · 현재 4,143(10.5)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5541264"/>
          <a:ext cx="5303520" cy="914400"/>
        </p:xfrm>
        <a:graphic>
          <a:graphicData uri="http://schemas.openxmlformats.org/drawingml/2006/table">
            <a:tbl>
              <a:tblPr/>
              <a:tblGrid>
                <a:gridCol w="585216"/>
                <a:gridCol w="786384"/>
                <a:gridCol w="786384"/>
                <a:gridCol w="786384"/>
                <a:gridCol w="786384"/>
                <a:gridCol w="786384"/>
                <a:gridCol w="78638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골드만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J.P.모건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BofA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씨티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UBS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WGC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전망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4,900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4,500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5C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3,750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4,500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4,100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A929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26년 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A929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4Q 평균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A929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4Q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A929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6~12개월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A929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27년 1H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A929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하반기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594360" y="5528462"/>
            <a:ext cx="5303520" cy="25603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17" name="Shape 13"/>
          <p:cNvSpPr/>
          <p:nvPr/>
        </p:nvSpPr>
        <p:spPr>
          <a:xfrm>
            <a:off x="594360" y="5907024"/>
            <a:ext cx="5303520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18" name="Shape 14"/>
          <p:cNvSpPr/>
          <p:nvPr/>
        </p:nvSpPr>
        <p:spPr>
          <a:xfrm>
            <a:off x="594360" y="6419088"/>
            <a:ext cx="5303520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19" name="Shape 15"/>
          <p:cNvSpPr/>
          <p:nvPr/>
        </p:nvSpPr>
        <p:spPr>
          <a:xfrm>
            <a:off x="594360" y="6931152"/>
            <a:ext cx="5303520" cy="25603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20" name="Shape 16"/>
          <p:cNvSpPr/>
          <p:nvPr/>
        </p:nvSpPr>
        <p:spPr>
          <a:xfrm>
            <a:off x="6217920" y="1847088"/>
            <a:ext cx="54864" cy="256032"/>
          </a:xfrm>
          <a:prstGeom prst="rect">
            <a:avLst/>
          </a:prstGeom>
          <a:solidFill>
            <a:srgbClr val="1F5C63"/>
          </a:solidFill>
          <a:ln/>
        </p:spPr>
      </p:sp>
      <p:sp>
        <p:nvSpPr>
          <p:cNvPr id="21" name="Text 17"/>
          <p:cNvSpPr/>
          <p:nvPr/>
        </p:nvSpPr>
        <p:spPr>
          <a:xfrm>
            <a:off x="6364224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금리 전망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364224" y="182880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기준일 2026.10.9</a:t>
            </a:r>
            <a:endParaRPr lang="en-US" sz="11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231136"/>
          <a:ext cx="3877056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871216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기준금리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3.75~4.00% (9.16 인상)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점도표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26·27년 말 4.1%, 장기 3.2%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12월 인상 확률 82% (CME)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10년물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26.12 전망 5.10% (WSJ)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 민감도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F46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금리 25bp 하락 ≈ 금 +1.75%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4" name="Shape 19"/>
          <p:cNvSpPr/>
          <p:nvPr/>
        </p:nvSpPr>
        <p:spPr>
          <a:xfrm>
            <a:off x="6217920" y="2218334"/>
            <a:ext cx="3877056" cy="25603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25" name="Shape 20"/>
          <p:cNvSpPr/>
          <p:nvPr/>
        </p:nvSpPr>
        <p:spPr>
          <a:xfrm>
            <a:off x="6217920" y="2596896"/>
            <a:ext cx="3877056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26" name="Shape 21"/>
          <p:cNvSpPr/>
          <p:nvPr/>
        </p:nvSpPr>
        <p:spPr>
          <a:xfrm>
            <a:off x="6217920" y="3108960"/>
            <a:ext cx="3877056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27" name="Shape 22"/>
          <p:cNvSpPr/>
          <p:nvPr/>
        </p:nvSpPr>
        <p:spPr>
          <a:xfrm>
            <a:off x="6217920" y="3621024"/>
            <a:ext cx="3877056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28" name="Shape 23"/>
          <p:cNvSpPr/>
          <p:nvPr/>
        </p:nvSpPr>
        <p:spPr>
          <a:xfrm>
            <a:off x="6217920" y="4133088"/>
            <a:ext cx="3877056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29" name="Shape 24"/>
          <p:cNvSpPr/>
          <p:nvPr/>
        </p:nvSpPr>
        <p:spPr>
          <a:xfrm>
            <a:off x="6217920" y="4645152"/>
            <a:ext cx="3877056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30" name="Shape 25"/>
          <p:cNvSpPr/>
          <p:nvPr/>
        </p:nvSpPr>
        <p:spPr>
          <a:xfrm>
            <a:off x="6217920" y="5157216"/>
            <a:ext cx="3877056" cy="25603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31" name="Shape 26"/>
          <p:cNvSpPr/>
          <p:nvPr/>
        </p:nvSpPr>
        <p:spPr>
          <a:xfrm>
            <a:off x="6217920" y="5486400"/>
            <a:ext cx="54864" cy="256032"/>
          </a:xfrm>
          <a:prstGeom prst="rect">
            <a:avLst/>
          </a:prstGeom>
          <a:solidFill>
            <a:srgbClr val="1F5C63"/>
          </a:solidFill>
          <a:ln/>
        </p:spPr>
      </p:sp>
      <p:sp>
        <p:nvSpPr>
          <p:cNvPr id="32" name="Text 27"/>
          <p:cNvSpPr/>
          <p:nvPr/>
        </p:nvSpPr>
        <p:spPr>
          <a:xfrm>
            <a:off x="6364224" y="54681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중앙은행 금 순매입</a:t>
            </a:r>
            <a:endParaRPr lang="en-US" sz="1350" dirty="0"/>
          </a:p>
        </p:txBody>
      </p:sp>
      <p:sp>
        <p:nvSpPr>
          <p:cNvPr id="33" name="Text 28"/>
          <p:cNvSpPr/>
          <p:nvPr/>
        </p:nvSpPr>
        <p:spPr>
          <a:xfrm>
            <a:off x="6364224" y="5468112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톤 · 과거 평균은 2010~21년</a:t>
            </a:r>
            <a:endParaRPr lang="en-US" sz="1100" dirty="0"/>
          </a:p>
        </p:txBody>
      </p:sp>
      <p:graphicFrame>
        <p:nvGraphicFramePr>
          <p:cNvPr id="34" name="Chart 1" descr=""/>
          <p:cNvGraphicFramePr/>
          <p:nvPr/>
        </p:nvGraphicFramePr>
        <p:xfrm>
          <a:off x="6217920" y="5852160"/>
          <a:ext cx="3877056" cy="10789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Shape 29"/>
          <p:cNvSpPr/>
          <p:nvPr/>
        </p:nvSpPr>
        <p:spPr>
          <a:xfrm>
            <a:off x="594360" y="7059168"/>
            <a:ext cx="9503268" cy="7315"/>
          </a:xfrm>
          <a:prstGeom prst="rect">
            <a:avLst/>
          </a:prstGeom>
          <a:solidFill>
            <a:srgbClr val="D5D9DE"/>
          </a:solidFill>
          <a:ln/>
        </p:spPr>
      </p:sp>
      <p:sp>
        <p:nvSpPr>
          <p:cNvPr id="36" name="Text 30"/>
          <p:cNvSpPr/>
          <p:nvPr/>
        </p:nvSpPr>
        <p:spPr>
          <a:xfrm>
            <a:off x="594360" y="7168896"/>
            <a:ext cx="84974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FRED, LBMA(21~23년 반올림값), WGC, Federal Reserve(H.15·SEP), CME FedWatch, Erb &amp; Harvey(1997~2012), WSJ, 언론 보도</a:t>
            </a:r>
            <a:endParaRPr lang="en-US" sz="9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주: 기준일 2026.10.12. 차트 금리는 명목 10년물 연평균. 기관 전망은 보도 기준, 골드만은 연준 인상 시 26년 말 4,440달러, WGC는 기본 ±5%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9091788" y="71688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2026-10-12T13:04:40Z</dcterms:created>
  <dcterms:modified xsi:type="dcterms:W3CDTF">2026-10-12T13:04:40Z</dcterms:modified>
</cp:coreProperties>
</file>